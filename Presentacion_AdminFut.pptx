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0EE14-D577-45B9-93E8-5FF1E9570708}" type="datetimeFigureOut">
              <a:rPr lang="es-MX" smtClean="0"/>
              <a:t>01/06/2026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29211-5CC3-4428-B48E-FA5B71B989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054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29211-5CC3-4428-B48E-FA5B71B989E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8680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640080"/>
            <a:ext cx="1097280" cy="10972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0" y="2926080"/>
            <a:ext cx="1097280" cy="10972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931920" y="5212080"/>
            <a:ext cx="1097280" cy="10972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577840" y="640080"/>
            <a:ext cx="1097280" cy="10972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23759" y="2926080"/>
            <a:ext cx="1097280" cy="10972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0" y="5212080"/>
            <a:ext cx="1097280" cy="10972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0" y="640080"/>
            <a:ext cx="1097280" cy="10972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161520" y="2926080"/>
            <a:ext cx="1097280" cy="10972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7280" y="1645920"/>
            <a:ext cx="1645920" cy="1645920"/>
          </a:xfrm>
          <a:prstGeom prst="roundRect">
            <a:avLst>
              <a:gd name="adj" fmla="val 15000"/>
            </a:avLst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9202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F1B2D"/>
                </a:solidFill>
                <a:latin typeface="Calibri Light"/>
              </a:defRPr>
            </a:pPr>
            <a:r>
              <a:t>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63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 Light"/>
              </a:defRPr>
            </a:pPr>
            <a:r>
              <a:t>AdminFut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77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C88"/>
                </a:solidFill>
                <a:latin typeface="Calibri Light"/>
              </a:defRPr>
            </a:pPr>
            <a:r>
              <a:t>Sistema Integral de Gestión de Ligas de Fútbol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108960"/>
            <a:ext cx="365760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0" y="33832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rPr b="1" dirty="0">
                <a:solidFill>
                  <a:schemeClr val="bg1"/>
                </a:solidFill>
              </a:rPr>
              <a:t>Plataforma web para </a:t>
            </a:r>
            <a:r>
              <a:rPr b="1" dirty="0" err="1">
                <a:solidFill>
                  <a:schemeClr val="bg1"/>
                </a:solidFill>
              </a:rPr>
              <a:t>administración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torneos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equipos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jugadores</a:t>
            </a:r>
            <a:r>
              <a:rPr b="1" dirty="0">
                <a:solidFill>
                  <a:schemeClr val="bg1"/>
                </a:solidFill>
              </a:rPr>
              <a:t> y </a:t>
            </a:r>
            <a:r>
              <a:rPr b="1" dirty="0" err="1">
                <a:solidFill>
                  <a:schemeClr val="bg1"/>
                </a:solidFill>
              </a:rPr>
              <a:t>finanzas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97280" y="45720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C88"/>
                </a:solidFill>
                <a:latin typeface="Calibri Light"/>
              </a:defRPr>
            </a:pPr>
            <a:r>
              <a:t>12+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Módulos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5720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C88"/>
                </a:solidFill>
                <a:latin typeface="Calibri Light"/>
              </a:defRPr>
            </a:pPr>
            <a: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Web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C88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Formatos Reporte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Arquitectura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28600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88"/>
                </a:solidFill>
                <a:latin typeface="Calibri Light"/>
              </a:defRPr>
            </a:pPr>
            <a:r>
              <a:t>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HTML5 / CSS3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Bootstrap 5 (Responsive)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JavaScript ES6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Django Templates (Jinja2)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C88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6304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 Light"/>
              </a:defRPr>
            </a:pPr>
            <a:r>
              <a:t>  BACKEND (Django 6.0)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Python 3.12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Class-based Views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ORM / Migrations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ReportLab + OpenPyXL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C88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63040"/>
            <a:ext cx="3017520" cy="201168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Calibri Light"/>
              </a:defRPr>
            </a:pPr>
            <a:r>
              <a:t>  BASE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116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SQLite / MySQL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Consultas optimizadas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Migraciones automáticas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20+ modelos relacionales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40480"/>
            <a:ext cx="3474720" cy="6858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0120" y="3977640"/>
            <a:ext cx="411480" cy="4114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08760" y="39502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Categorías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840480"/>
            <a:ext cx="3474720" cy="6858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09160" y="397764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39502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Temporadas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840480"/>
            <a:ext cx="3474720" cy="6858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58200" y="397764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39502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Equipos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54880"/>
            <a:ext cx="3474720" cy="6858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0120" y="489204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08760" y="4864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Jugadores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754880"/>
            <a:ext cx="3474720" cy="6858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709160" y="4892040"/>
            <a:ext cx="411480" cy="4114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57800" y="4864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Partidos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754880"/>
            <a:ext cx="3474720" cy="6858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458200" y="489204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06840" y="4864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Sanciones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669280"/>
            <a:ext cx="3474720" cy="6858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60120" y="580644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08760" y="57790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Finanzas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5669280"/>
            <a:ext cx="3474720" cy="6858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709160" y="580644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57800" y="57790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Reportes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5669280"/>
            <a:ext cx="3474720" cy="6858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458200" y="5806440"/>
            <a:ext cx="411480" cy="4114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06840" y="57790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Usuarios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Categorías y Temporadas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28600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943600" cy="86868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320040" cy="32004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1444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Categorías Configurables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Nombre, género, rango de edad (mín/máx), límite de jugadores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5943600" cy="86868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256032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24505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Compatibilidad Cruzada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88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Categorías compatibles entre sí (Primera ↔ Veteranos, etc.)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5943600" cy="86868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5840" y="356616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34564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Estados de Temporada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No iniciada → Iniciada → Finalizada con control de acceso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5943600" cy="86868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" y="457200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4462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Períodos de Altas/Bajas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Ventanas programables por temporada (ordinario y extraordinario)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394960"/>
            <a:ext cx="5943600" cy="86868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5840" y="5577840"/>
            <a:ext cx="320040" cy="32004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5468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Validación Automática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806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Cupo máximo por equipo verificado en cada registro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371600"/>
            <a:ext cx="4114800" cy="502920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88"/>
                </a:solidFill>
                <a:latin typeface="Calibri Light"/>
              </a:defRPr>
            </a:pPr>
            <a:r>
              <a:t>  Flujo de Temporada</a:t>
            </a:r>
          </a:p>
        </p:txBody>
      </p:sp>
      <p:sp>
        <p:nvSpPr>
          <p:cNvPr id="27" name="Oval 26"/>
          <p:cNvSpPr/>
          <p:nvPr/>
        </p:nvSpPr>
        <p:spPr>
          <a:xfrm>
            <a:off x="7680960" y="2011680"/>
            <a:ext cx="411480" cy="4114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0" y="20299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B2D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965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Crear Categoría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240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Definir reglas, edades, compatibilidad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2468880"/>
            <a:ext cx="2540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680960" y="283464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28529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B2D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788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Crear Temporada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Configurar rol, grupos, liguilla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291840"/>
            <a:ext cx="2540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680960" y="365760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80960" y="36758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B2D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Iniciar Temporada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886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Comenzar registro de resultados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4114800"/>
            <a:ext cx="2540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680960" y="448056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80960" y="44988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B2D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Período de Altas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709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Ventana para registrar/modificar jugadores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4937760"/>
            <a:ext cx="2540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680960" y="5303520"/>
            <a:ext cx="411480" cy="4114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80960" y="53218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B2D"/>
                </a:solidFill>
                <a:latin typeface="Calibri Light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5257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Finalizar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532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Cerrar temporada, liberar jugadores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Gestión Integral de Jugadores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28600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320040" cy="32004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14447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Registro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556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Foto, posición, dorsal, fecha de nacimiento, equipo principal + secundarios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8600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24688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23591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Filtros Inteligentes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700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Categoría → Equipo → Búsqueda por nombre con filtrado JS en tiempo real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0040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5840" y="338328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32735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Validación de Edad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844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La edad se calcula automáticamente y se valida contra el rango de cada categoría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1480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" y="429768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4187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Multi-categoría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988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Posibilidad de jugar en ligas compatibles simultáneamente (1 principal + N secundarias)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2920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5840" y="5212080"/>
            <a:ext cx="320040" cy="32004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51023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Protección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13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No se puede eliminar ni cambiar de equipo si la temporada está en curso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12064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2D1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" y="5120640"/>
            <a:ext cx="109728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Calibri Light"/>
              </a:defRPr>
            </a:pPr>
            <a:r>
              <a:t>Control de Edad — Multa por Incumplimiento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778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Si se modifica la fecha de nacimiento y el jugador queda fuera del rango de edad de su categoría: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FF6B35"/>
                </a:solidFill>
                <a:latin typeface="Calibri Light"/>
              </a:defRPr>
            </a:pPr>
            <a:r>
              <a:t>➜  Se genera automáticamente una multa de $500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FF6B35"/>
                </a:solidFill>
                <a:latin typeface="Calibri Light"/>
              </a:defRPr>
            </a:pPr>
            <a:r>
              <a:t>➜  Los partidos PEND/JUG donde participó se marcan como default (walkover)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FF6B35"/>
                </a:solidFill>
                <a:latin typeface="Calibri Light"/>
              </a:defRPr>
            </a:pPr>
            <a:r>
              <a:t>➜  El jugador queda suspendido hasta liquidar la multa en el POS de Ingresos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Partidos y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28600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63500" cy="82296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Programación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Asignación de fecha, hora, campo y árbitro con validación de conflictos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50292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6350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450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Resultados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Carga de goles, tarjetas amarillas/rojas con actualización automática de tabla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50292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383280"/>
            <a:ext cx="6350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Walkover Automático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Default por mora o abandono configurable por temporada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50292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389120"/>
            <a:ext cx="63500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462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Liguilla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Cuartos, semifinales y final con formato ida/vuelta configurable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394960"/>
            <a:ext cx="50292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5394960"/>
            <a:ext cx="63500" cy="82296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468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Tabla de Posiciones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Cálculo automático con puntos, diferencia de goles, racha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371600"/>
            <a:ext cx="5029200" cy="502920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88"/>
                </a:solidFill>
                <a:latin typeface="Calibri Light"/>
              </a:defRPr>
            </a:pPr>
            <a:r>
              <a:t>  Tabla de Posiciones (Ejemplo)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103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C88"/>
                </a:solidFill>
                <a:latin typeface="Calibri Light"/>
              </a:defRPr>
            </a:pPr>
            <a: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C88"/>
                </a:solidFill>
                <a:latin typeface="Calibri Light"/>
              </a:defRPr>
            </a:pPr>
            <a:r>
              <a:t>Equipo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103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C88"/>
                </a:solidFill>
                <a:latin typeface="Calibri Light"/>
              </a:defRPr>
            </a:pPr>
            <a:r>
              <a:t>PJ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103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C88"/>
                </a:solidFill>
                <a:latin typeface="Calibri Light"/>
              </a:defRPr>
            </a:pPr>
            <a:r>
              <a:t>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103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C88"/>
                </a:solidFill>
                <a:latin typeface="Calibri Light"/>
              </a:defRPr>
            </a:pPr>
            <a: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103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C88"/>
                </a:solidFill>
                <a:latin typeface="Calibri Light"/>
              </a:defRPr>
            </a:pPr>
            <a:r>
              <a:t>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C88"/>
                </a:solidFill>
                <a:latin typeface="Calibri Light"/>
              </a:defRPr>
            </a:pPr>
            <a:r>
              <a:t>Pts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2468880"/>
            <a:ext cx="4663440" cy="384048"/>
          </a:xfrm>
          <a:prstGeom prst="roundRect">
            <a:avLst>
              <a:gd name="adj" fmla="val 2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2487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487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Real Madrid FC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2487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2487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487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2487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2487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 Light"/>
              </a:defRPr>
            </a:pPr>
            <a:r>
              <a:t>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2926080"/>
            <a:ext cx="4663440" cy="384048"/>
          </a:xfrm>
          <a:prstGeom prst="roundRect">
            <a:avLst>
              <a:gd name="adj" fmla="val 2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2944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FC Barcelona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2944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 Light"/>
              </a:defRPr>
            </a:pPr>
            <a:r>
              <a:t>23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0" y="3383280"/>
            <a:ext cx="4663440" cy="384048"/>
          </a:xfrm>
          <a:prstGeom prst="roundRect">
            <a:avLst>
              <a:gd name="adj" fmla="val 2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0" y="3401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3401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Atlético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3401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3401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3401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3401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3401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 Light"/>
              </a:defRPr>
            </a:pPr>
            <a:r>
              <a:t>21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0" y="3840480"/>
            <a:ext cx="4663440" cy="384048"/>
          </a:xfrm>
          <a:prstGeom prst="roundRect">
            <a:avLst>
              <a:gd name="adj" fmla="val 2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75120" y="3858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3858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Cerro Lagos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3858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3858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3858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0" y="3858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38587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 Light"/>
              </a:defRPr>
            </a:pPr>
            <a:r>
              <a:t>17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0" y="4297680"/>
            <a:ext cx="4663440" cy="384048"/>
          </a:xfrm>
          <a:prstGeom prst="roundRect">
            <a:avLst>
              <a:gd name="adj" fmla="val 2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67512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 Light"/>
              </a:defRPr>
            </a:pPr>
            <a: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Deportivo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2416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43159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 Light"/>
              </a:defRPr>
            </a:pPr>
            <a:r>
              <a:t>16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* Cálculo automático al finalizar cada partido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Sanciones y Suspensiones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28600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9436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6350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447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Registro de Tarjetas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Amarillas y rojas por partido con detalle de minuto y tipo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59436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63500" cy="82296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450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Doble Amarilla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Acumulación de 2 amarillas = suspensión automática de 1 jornada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59436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383280"/>
            <a:ext cx="6350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Roja Directa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Suspensión configurable (N jornadas) según la falta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59436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389120"/>
            <a:ext cx="63500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462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Reporte Castigados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PDF imprimible y XLSX editable con orden por jornada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394960"/>
            <a:ext cx="59436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5394960"/>
            <a:ext cx="63500" cy="82296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468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Prevención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Notificaciones visuales de próximas suspensiones en la ficha del jugador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371600"/>
            <a:ext cx="4114800" cy="502920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 Light"/>
              </a:defRPr>
            </a:pPr>
            <a:r>
              <a:t>  Tipos de Sanción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2103120"/>
            <a:ext cx="3566160" cy="777240"/>
          </a:xfrm>
          <a:prstGeom prst="roundRect">
            <a:avLst>
              <a:gd name="adj" fmla="val 4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772400" y="2286000"/>
            <a:ext cx="548640" cy="365760"/>
          </a:xfrm>
          <a:prstGeom prst="roundRect">
            <a:avLst>
              <a:gd name="adj" fmla="val 4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23042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B2D"/>
                </a:solidFill>
                <a:latin typeface="Calibri Light"/>
              </a:defRPr>
            </a:pPr>
            <a: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148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Amarilla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468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Acumulación (2 = 1 fecha)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108960"/>
            <a:ext cx="3566160" cy="777240"/>
          </a:xfrm>
          <a:prstGeom prst="roundRect">
            <a:avLst>
              <a:gd name="adj" fmla="val 4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772400" y="3291840"/>
            <a:ext cx="548640" cy="365760"/>
          </a:xfrm>
          <a:prstGeom prst="roundRect">
            <a:avLst>
              <a:gd name="adj" fmla="val 4000"/>
            </a:avLst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0" y="33101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B2D"/>
                </a:solidFill>
                <a:latin typeface="Calibri Light"/>
              </a:defRPr>
            </a:pPr>
            <a: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154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Doble Amarilla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474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1 fecha de suspensión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4114800"/>
            <a:ext cx="3566160" cy="777240"/>
          </a:xfrm>
          <a:prstGeom prst="roundRect">
            <a:avLst>
              <a:gd name="adj" fmla="val 4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772400" y="4297680"/>
            <a:ext cx="548640" cy="36576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0" y="43159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B2D"/>
                </a:solidFill>
                <a:latin typeface="Calibri Light"/>
              </a:defRPr>
            </a:pPr>
            <a:r>
              <a:t>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160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Roja Directa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480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N fechas configurables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5120640"/>
            <a:ext cx="3566160" cy="777240"/>
          </a:xfrm>
          <a:prstGeom prst="roundRect">
            <a:avLst>
              <a:gd name="adj" fmla="val 4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772400" y="5303520"/>
            <a:ext cx="548640" cy="365760"/>
          </a:xfrm>
          <a:prstGeom prst="roundRect">
            <a:avLst>
              <a:gd name="adj" fmla="val 4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0" y="53218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B2D"/>
                </a:solidFill>
                <a:latin typeface="Calibri Light"/>
              </a:defRPr>
            </a:pPr>
            <a:r>
              <a:t>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Roja + Amarilla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486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1 fecha + lo que reste de roja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Módulo Financiero — Punto de Venta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28600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" y="1600200"/>
            <a:ext cx="640080" cy="64008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642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B2D"/>
                </a:solidFill>
                <a:latin typeface="Calibri Light"/>
              </a:defRPr>
            </a:pPr>
            <a: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Conceptos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Configurables: nombre, monto default, requiere jugador/equipo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840480" y="16002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16642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B2D"/>
                </a:solidFill>
                <a:latin typeface="Calibri Light"/>
              </a:defRPr>
            </a:pPr>
            <a:r>
              <a:t>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POS Rápido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Interfaz tipo punto de venta con cambio automático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83680" y="160020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6642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B2D"/>
                </a:solidFill>
                <a:latin typeface="Calibri Light"/>
              </a:defRPr>
            </a:pPr>
            <a:r>
              <a:t>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Filtros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Por concepto, fecha, rango de fechas, equipo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26880" y="160020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16642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B2D"/>
                </a:solidFill>
                <a:latin typeface="Calibri Light"/>
              </a:defRPr>
            </a:pPr>
            <a:r>
              <a:t>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Multa Edad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Automática al cambiar fecha de nacimiento (suspende jugador)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931920"/>
            <a:ext cx="10515600" cy="256032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C88"/>
                </a:solidFill>
                <a:latin typeface="Calibri Light"/>
              </a:defRPr>
            </a:pPr>
            <a:r>
              <a:t>  Ejemplos de Conceptos de Ingreso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88"/>
                </a:solidFill>
                <a:latin typeface="Calibri Light"/>
              </a:defRPr>
            </a:pPr>
            <a:r>
              <a:t>Concepto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88"/>
                </a:solidFill>
                <a:latin typeface="Calibri Light"/>
              </a:defRPr>
            </a:pPr>
            <a:r>
              <a:t>Monto Default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88"/>
                </a:solidFill>
                <a:latin typeface="Calibri Light"/>
              </a:defRPr>
            </a:pPr>
            <a:r>
              <a:t>Requiere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88"/>
                </a:solidFill>
                <a:latin typeface="Calibri Light"/>
              </a:defRPr>
            </a:pPr>
            <a:r>
              <a:t>Descripción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4754880"/>
            <a:ext cx="10058400" cy="320040"/>
          </a:xfrm>
          <a:prstGeom prst="roundRect">
            <a:avLst>
              <a:gd name="adj" fmla="val 2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4773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 Light"/>
              </a:defRPr>
            </a:pPr>
            <a:r>
              <a:t>Inscripción Equipo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$2,000.00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773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Equipo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73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Pago anual por equipo participante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120640"/>
            <a:ext cx="10058400" cy="320040"/>
          </a:xfrm>
          <a:prstGeom prst="roundRect">
            <a:avLst>
              <a:gd name="adj" fmla="val 2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5138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 Light"/>
              </a:defRPr>
            </a:pPr>
            <a:r>
              <a:t>Multa por Edad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138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$500.00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138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Jugador + Equipo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138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Incumplimiento de rango de edad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5486400"/>
            <a:ext cx="10058400" cy="320040"/>
          </a:xfrm>
          <a:prstGeom prst="roundRect">
            <a:avLst>
              <a:gd name="adj" fmla="val 2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7280" y="55046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 Light"/>
              </a:defRPr>
            </a:pPr>
            <a:r>
              <a:t>Renta de Campo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504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$150.00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5504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504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Uso de cancha por partido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852160"/>
            <a:ext cx="10058400" cy="320040"/>
          </a:xfrm>
          <a:prstGeom prst="roundRect">
            <a:avLst>
              <a:gd name="adj" fmla="val 2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7280" y="5870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 Light"/>
              </a:defRPr>
            </a:pPr>
            <a:r>
              <a:t>Pago Arbitraje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0" y="5870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$300.00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704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870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Honorarios arbitrales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Gestión de Altas y Bajas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28600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64008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63500" cy="82296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447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Períodos Programables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Ventanas de altas/bajas por temporada (ordinario y extraordinario)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64008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6350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4505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Alta con Búsqueda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Selector de jugador existente con búsqueda por texto y filtro por categorías compatibles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64008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383280"/>
            <a:ext cx="6350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Asignación Flexible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Registro como titular o secundario según la categoría destino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64008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389120"/>
            <a:ext cx="63500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4622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Baja por Categoría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Desactiva al jugador solo en esa categoría (no lo elimina del sistema)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394960"/>
            <a:ext cx="64008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5394960"/>
            <a:ext cx="63500" cy="82296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4681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Dashboard en Vivo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60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Barra de progreso x / max_jugadores por equipo con validación de cupo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88"/>
                </a:solidFill>
                <a:latin typeface="Calibri Light"/>
              </a:defRPr>
            </a:pPr>
            <a:r>
              <a:t>  Cupo por Equipo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Real Madrid FC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18 / 22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2423160"/>
            <a:ext cx="1828800" cy="228600"/>
          </a:xfrm>
          <a:prstGeom prst="roundRect">
            <a:avLst>
              <a:gd name="adj" fmla="val 3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26880" y="2423160"/>
            <a:ext cx="1496290" cy="228600"/>
          </a:xfrm>
          <a:prstGeom prst="roundRect">
            <a:avLst>
              <a:gd name="adj" fmla="val 3000"/>
            </a:avLst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955279" y="2651760"/>
            <a:ext cx="3200400" cy="274320"/>
          </a:xfrm>
          <a:prstGeom prst="roundRect">
            <a:avLst>
              <a:gd name="adj" fmla="val 4000"/>
            </a:avLst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79" y="26791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2D"/>
                </a:solidFill>
                <a:latin typeface="Calibri Light"/>
              </a:defRPr>
            </a:pPr>
            <a:r>
              <a:t>Dar de Alta 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FC Barcelona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15 / 22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3429000"/>
            <a:ext cx="1828800" cy="228600"/>
          </a:xfrm>
          <a:prstGeom prst="roundRect">
            <a:avLst>
              <a:gd name="adj" fmla="val 3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326880" y="3429000"/>
            <a:ext cx="1246909" cy="22860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955279" y="3657600"/>
            <a:ext cx="3200400" cy="27432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55279" y="36850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2D"/>
                </a:solidFill>
                <a:latin typeface="Calibri Light"/>
              </a:defRPr>
            </a:pPr>
            <a:r>
              <a:t>Dar de Alta 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Atlético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20 / 22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0" y="4434840"/>
            <a:ext cx="1828800" cy="228600"/>
          </a:xfrm>
          <a:prstGeom prst="roundRect">
            <a:avLst>
              <a:gd name="adj" fmla="val 3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326880" y="4434840"/>
            <a:ext cx="1662545" cy="228600"/>
          </a:xfrm>
          <a:prstGeom prst="roundRect">
            <a:avLst>
              <a:gd name="adj" fmla="val 3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955279" y="4663440"/>
            <a:ext cx="3200400" cy="274320"/>
          </a:xfrm>
          <a:prstGeom prst="roundRect">
            <a:avLst>
              <a:gd name="adj" fmla="val 4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55279" y="46908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2D"/>
                </a:solidFill>
                <a:latin typeface="Calibri Light"/>
              </a:defRPr>
            </a:pPr>
            <a:r>
              <a:t>Dar de Alta 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Cerro Lagos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22 / 22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0" y="5440680"/>
            <a:ext cx="1828800" cy="228600"/>
          </a:xfrm>
          <a:prstGeom prst="roundRect">
            <a:avLst>
              <a:gd name="adj" fmla="val 3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326880" y="5440680"/>
            <a:ext cx="1828800" cy="228600"/>
          </a:xfrm>
          <a:prstGeom prst="roundRect">
            <a:avLst>
              <a:gd name="adj" fmla="val 3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955279" y="5669280"/>
            <a:ext cx="3200400" cy="274320"/>
          </a:xfrm>
          <a:prstGeom prst="roundRect">
            <a:avLst>
              <a:gd name="adj" fmla="val 4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55279" y="56967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2D"/>
                </a:solidFill>
                <a:latin typeface="Calibri Light"/>
              </a:defRPr>
            </a:pPr>
            <a:r>
              <a:t>Dar de Alta 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Reportes y Exportación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28600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03120" y="1600200"/>
            <a:ext cx="822960" cy="82296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16916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B2D"/>
                </a:solidFill>
                <a:latin typeface="Calibri Light"/>
              </a:defRPr>
            </a:pPr>
            <a: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Tabla de Posiciones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Puntos, dif. goles, racha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2160" y="1600200"/>
            <a:ext cx="822960" cy="8229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0" y="16916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B2D"/>
                </a:solidFill>
                <a:latin typeface="Calibri Light"/>
              </a:defRPr>
            </a:pPr>
            <a:r>
              <a:t>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Jugadores Castigados (PDF)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Formato imprimible con firmas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200" y="160020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0" y="16916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B2D"/>
                </a:solidFill>
                <a:latin typeface="Calibri Light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Jugadores Castigados (XLSX)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Editable en Excel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9319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03120" y="4160520"/>
            <a:ext cx="822960" cy="822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03120" y="4251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B2D"/>
                </a:solidFill>
                <a:latin typeface="Calibri Light"/>
              </a:defRPr>
            </a:pPr>
            <a:r>
              <a:t>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Cédula de Partido (PDF)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86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Alineaciones, resultado, firmas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9319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852160" y="4160520"/>
            <a:ext cx="822960" cy="82296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52160" y="4251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B2D"/>
                </a:solidFill>
                <a:latin typeface="Calibri Light"/>
              </a:defRPr>
            </a:pPr>
            <a:r>
              <a:t>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120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Exportación General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486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Todas las tablas a Excel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9319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01200" y="416052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0" y="4251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B2D"/>
                </a:solidFill>
                <a:latin typeface="Calibri Light"/>
              </a:defRPr>
            </a:pPr>
            <a: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120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Dashboard Visual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486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Indicadores clave de la liga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Seguridad y Control de Acceso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28600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63500" cy="82296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Autenticación Django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Login seguro con sesiones, protección CSRF en todos los formularios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105156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6350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4505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Roles y Permisos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Permisos granulares por módulo: crear, editar, eliminar, 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105156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383280"/>
            <a:ext cx="6350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Protección de Conceptos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Campo no_eliminar evita borrado accidental de conceptos críticos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10515600" cy="82296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389120"/>
            <a:ext cx="63500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4622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Validaciones Cruzadas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Reglas a nivel formulario + base de datos + vistas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394960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5394959"/>
            <a:ext cx="45719" cy="100584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4681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Bloqueo por Temporada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0399625E-C619-34F1-CF03-D07D7CAEED80}"/>
              </a:ext>
            </a:extLst>
          </p:cNvPr>
          <p:cNvSpPr txBox="1"/>
          <p:nvPr/>
        </p:nvSpPr>
        <p:spPr>
          <a:xfrm>
            <a:off x="1083310" y="585216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rPr lang="es-MX" dirty="0"/>
              <a:t>Se bloquean categorías, jugadores y equipos dentro de una temporada activa para que no se muevan a otra categoría, en el caso de los jugadores se </a:t>
            </a:r>
            <a:r>
              <a:rPr lang="es-MX" dirty="0" err="1"/>
              <a:t>pordra</a:t>
            </a:r>
            <a:r>
              <a:rPr lang="es-MX" dirty="0"/>
              <a:t> mover a otra categoría compatible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28600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03120" y="1645920"/>
            <a:ext cx="777240" cy="77724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173736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1B2D"/>
                </a:solidFill>
                <a:latin typeface="Calibri Light"/>
              </a:defRPr>
            </a:pPr>
            <a: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 Light"/>
              </a:defRPr>
            </a:pPr>
            <a:r>
              <a:t>Python 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Lenguaje principal del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2160" y="1645920"/>
            <a:ext cx="777240" cy="7772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0" y="173736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1B2D"/>
                </a:solidFill>
                <a:latin typeface="Calibri Light"/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 Light"/>
              </a:defRPr>
            </a:pPr>
            <a:r>
              <a:t>Django 6.0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Framework web MTV con ORM potente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630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200" y="1645920"/>
            <a:ext cx="777240" cy="7772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0" y="173736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1B2D"/>
                </a:solidFill>
                <a:latin typeface="Calibri Light"/>
              </a:defRPr>
            </a:pPr>
            <a: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 Light"/>
              </a:defRPr>
            </a:pPr>
            <a:r>
              <a:t>Bootstrap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Diseño responsive y componentes UI modernos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4048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03120" y="4023360"/>
            <a:ext cx="777240" cy="777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03120" y="411480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1B2D"/>
                </a:solidFill>
                <a:latin typeface="Calibri Light"/>
              </a:defRPr>
            </a:pPr>
            <a:r>
              <a:t>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 Light"/>
              </a:defRPr>
            </a:pPr>
            <a:r>
              <a:t>SQLite / MySQL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Base de datos relacional con migraciones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84048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852160" y="4023360"/>
            <a:ext cx="777240" cy="77724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52160" y="411480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1B2D"/>
                </a:solidFill>
                <a:latin typeface="Calibri Light"/>
              </a:defRPr>
            </a:pPr>
            <a:r>
              <a:t>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 Light"/>
              </a:defRPr>
            </a:pPr>
            <a:r>
              <a:t>ReportLab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303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Generación de PDF con estilo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84048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01200" y="4023360"/>
            <a:ext cx="777240" cy="7772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0" y="411480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1B2D"/>
                </a:solidFill>
                <a:latin typeface="Calibri Light"/>
              </a:defRPr>
            </a:pPr>
            <a: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 Light"/>
              </a:defRPr>
            </a:pPr>
            <a:r>
              <a:t>OpenPyXL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303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Exportación a Excel con formato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0" y="1371600"/>
            <a:ext cx="1371600" cy="137160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840480" y="2743200"/>
            <a:ext cx="1371600" cy="137160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852160" y="1371600"/>
            <a:ext cx="1371600" cy="137160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863840" y="2743200"/>
            <a:ext cx="1371600" cy="137160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1371600"/>
            <a:ext cx="1371600" cy="1371600"/>
          </a:xfrm>
          <a:prstGeom prst="ellipse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 Light"/>
              </a:defRPr>
            </a:pPr>
            <a:r>
              <a:t>Gracias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200400"/>
            <a:ext cx="2103120" cy="3810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C88"/>
                </a:solidFill>
                <a:latin typeface="Calibri Light"/>
              </a:defRPr>
            </a:pPr>
            <a:r>
              <a:rPr b="1" dirty="0" err="1">
                <a:solidFill>
                  <a:schemeClr val="bg1"/>
                </a:solidFill>
              </a:rPr>
              <a:t>AdminFut</a:t>
            </a:r>
            <a:r>
              <a:rPr b="1" dirty="0">
                <a:solidFill>
                  <a:schemeClr val="bg1"/>
                </a:solidFill>
              </a:rPr>
              <a:t> — Sistema Integral de </a:t>
            </a:r>
            <a:r>
              <a:rPr b="1" dirty="0" err="1">
                <a:solidFill>
                  <a:schemeClr val="bg1"/>
                </a:solidFill>
              </a:rPr>
              <a:t>Gestión</a:t>
            </a:r>
            <a:r>
              <a:rPr b="1" dirty="0">
                <a:solidFill>
                  <a:schemeClr val="bg1"/>
                </a:solidFill>
              </a:rPr>
              <a:t> de Ligas de Fútbol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 Light"/>
              </a:defRPr>
            </a:pPr>
            <a:r>
              <a:t>Preguntas y respuestas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5029200"/>
            <a:ext cx="4846320" cy="109728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0" y="5120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Contacto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486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Desarrollado con Python + Django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1039</Words>
  <Application>Microsoft Office PowerPoint</Application>
  <PresentationFormat>Panorámica</PresentationFormat>
  <Paragraphs>272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Lopez, Oscar (MEX, EX, IT)</cp:lastModifiedBy>
  <cp:revision>2</cp:revision>
  <dcterms:created xsi:type="dcterms:W3CDTF">2013-01-27T09:14:16Z</dcterms:created>
  <dcterms:modified xsi:type="dcterms:W3CDTF">2026-06-01T20:40:54Z</dcterms:modified>
  <cp:category/>
</cp:coreProperties>
</file>